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lear Sans" charset="1" panose="020B0503030202020304"/>
      <p:regular r:id="rId17"/>
    </p:embeddedFont>
    <p:embeddedFont>
      <p:font typeface="Times New Roman" charset="1" panose="02020603050405020304"/>
      <p:regular r:id="rId18"/>
    </p:embeddedFont>
    <p:embeddedFont>
      <p:font typeface="Times New Roman MT" charset="1" panose="02030502070405020303"/>
      <p:regular r:id="rId19"/>
    </p:embeddedFont>
    <p:embeddedFont>
      <p:font typeface="Sansation Bold" charset="1" panose="02000000000000000000"/>
      <p:regular r:id="rId20"/>
    </p:embeddedFont>
    <p:embeddedFont>
      <p:font typeface="Clear Sans Bold" charset="1" panose="020B08030302020203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98054" y="8050827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8"/>
                </a:lnTo>
                <a:lnTo>
                  <a:pt x="0" y="3596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1714" y="8285665"/>
            <a:ext cx="2096915" cy="682451"/>
          </a:xfrm>
          <a:custGeom>
            <a:avLst/>
            <a:gdLst/>
            <a:ahLst/>
            <a:cxnLst/>
            <a:rect r="r" b="b" t="t" l="l"/>
            <a:pathLst>
              <a:path h="682451" w="2096915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263587" y="6133605"/>
            <a:ext cx="5814074" cy="1373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2"/>
              </a:lnSpc>
            </a:pPr>
            <a:r>
              <a:rPr lang="en-US" sz="2454" spc="73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By,</a:t>
            </a:r>
          </a:p>
          <a:p>
            <a:pPr algn="l">
              <a:lnSpc>
                <a:spcPts val="3682"/>
              </a:lnSpc>
            </a:pPr>
            <a:r>
              <a:rPr lang="en-US" sz="2454" spc="73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2303717673721020-Krishna Sanjay J</a:t>
            </a:r>
          </a:p>
          <a:p>
            <a:pPr algn="l" marL="0" indent="0" lvl="0">
              <a:lnSpc>
                <a:spcPts val="3682"/>
              </a:lnSpc>
              <a:spcBef>
                <a:spcPct val="0"/>
              </a:spcBef>
            </a:pPr>
            <a:r>
              <a:rPr lang="en-US" sz="2454" spc="73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2303717673721022-Madhan G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-247687" y="4179254"/>
            <a:ext cx="18783374" cy="1719090"/>
            <a:chOff x="0" y="0"/>
            <a:chExt cx="25044498" cy="229212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7935628" y="1417341"/>
              <a:ext cx="9173242" cy="8747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482"/>
                </a:lnSpc>
              </a:pPr>
              <a:r>
                <a:rPr lang="en-US" sz="3654">
                  <a:solidFill>
                    <a:srgbClr val="3F3E3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 PM INTERNSHIP SCHEME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257175"/>
              <a:ext cx="25044498" cy="1492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22"/>
                </a:lnSpc>
              </a:pPr>
              <a:r>
                <a:rPr lang="en-US" sz="6099" spc="182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INTERNSHIP RECOMMENDATION ENGINE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98054" y="7592720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8"/>
                </a:lnTo>
                <a:lnTo>
                  <a:pt x="0" y="3596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20253" y="8703523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1714" y="9200941"/>
            <a:ext cx="2096915" cy="682451"/>
          </a:xfrm>
          <a:custGeom>
            <a:avLst/>
            <a:gdLst/>
            <a:ahLst/>
            <a:cxnLst/>
            <a:rect r="r" b="b" t="t" l="l"/>
            <a:pathLst>
              <a:path h="682451" w="2096915">
                <a:moveTo>
                  <a:pt x="0" y="0"/>
                </a:moveTo>
                <a:lnTo>
                  <a:pt x="2096915" y="0"/>
                </a:lnTo>
                <a:lnTo>
                  <a:pt x="2096915" y="682450"/>
                </a:lnTo>
                <a:lnTo>
                  <a:pt x="0" y="6824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98054" y="3138936"/>
            <a:ext cx="15930575" cy="4026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68"/>
              </a:lnSpc>
              <a:spcBef>
                <a:spcPct val="0"/>
              </a:spcBef>
            </a:pPr>
            <a:r>
              <a:rPr lang="en-US" sz="3579" spc="107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Our project is to finding the right internship under the PM Internship Scheme which is challenging due to large volumes of opportunities. This project builds a Machine Learning and rule-based Recommendation Engine that matches students with suitable internships based on their skills, qualifications, and preferences. Using models like Random Forest and XGBoost, it provides accurate and personalized recommendations.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99372" y="223837"/>
            <a:ext cx="11689257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49"/>
              </a:lnSpc>
              <a:spcBef>
                <a:spcPct val="0"/>
              </a:spcBef>
            </a:pPr>
            <a:r>
              <a:rPr lang="en-US" b="true" sz="10457" spc="104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INTRODUCTI</a:t>
            </a:r>
            <a:r>
              <a:rPr lang="en-US" b="true" sz="10457" spc="104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98054" y="7592720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8"/>
                </a:lnTo>
                <a:lnTo>
                  <a:pt x="0" y="3596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95731" y="8684473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809847" y="9152547"/>
            <a:ext cx="2096915" cy="682451"/>
          </a:xfrm>
          <a:custGeom>
            <a:avLst/>
            <a:gdLst/>
            <a:ahLst/>
            <a:cxnLst/>
            <a:rect r="r" b="b" t="t" l="l"/>
            <a:pathLst>
              <a:path h="682451" w="2096915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06331" y="2786330"/>
            <a:ext cx="16378634" cy="597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7803" indent="-378901" lvl="1">
              <a:lnSpc>
                <a:spcPts val="5264"/>
              </a:lnSpc>
              <a:buFont typeface="Arial"/>
              <a:buChar char="•"/>
            </a:pPr>
            <a:r>
              <a:rPr lang="en-US" sz="3509" spc="10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The PM Internship Scheme provides students with a wide range of internship opportunities across government departments and partner organizations.</a:t>
            </a:r>
          </a:p>
          <a:p>
            <a:pPr algn="just" marL="757803" indent="-378901" lvl="1">
              <a:lnSpc>
                <a:spcPts val="5264"/>
              </a:lnSpc>
              <a:buFont typeface="Arial"/>
              <a:buChar char="•"/>
            </a:pPr>
            <a:r>
              <a:rPr lang="en-US" sz="3509" spc="10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However, with numerous internships available, candidates often face difficulty in identifying positions that best match their skills, education, interests, and career aspirations. </a:t>
            </a:r>
          </a:p>
          <a:p>
            <a:pPr algn="just" marL="757803" indent="-378901" lvl="1">
              <a:lnSpc>
                <a:spcPts val="5264"/>
              </a:lnSpc>
              <a:buFont typeface="Arial"/>
              <a:buChar char="•"/>
            </a:pPr>
            <a:r>
              <a:rPr lang="en-US" sz="3509" spc="105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Traditional approaches rely on manual search or basic filtering, which is time-consuming, inefficient, and may not capture true candidate-internship compatibility.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63029" y="730457"/>
            <a:ext cx="11361942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49"/>
              </a:lnSpc>
              <a:spcBef>
                <a:spcPct val="0"/>
              </a:spcBef>
            </a:pPr>
            <a:r>
              <a:rPr lang="en-US" b="true" sz="7958" spc="79" strike="noStrike" u="none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98054" y="7592720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8"/>
                </a:lnTo>
                <a:lnTo>
                  <a:pt x="0" y="3596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021073" y="8684473"/>
            <a:ext cx="3705291" cy="3205055"/>
            <a:chOff x="0" y="0"/>
            <a:chExt cx="4940388" cy="42734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51386" y="0"/>
              <a:ext cx="4289002" cy="4273406"/>
            </a:xfrm>
            <a:custGeom>
              <a:avLst/>
              <a:gdLst/>
              <a:ahLst/>
              <a:cxnLst/>
              <a:rect r="r" b="b" t="t" l="l"/>
              <a:pathLst>
                <a:path h="4273406" w="4289002">
                  <a:moveTo>
                    <a:pt x="0" y="0"/>
                  </a:moveTo>
                  <a:lnTo>
                    <a:pt x="4289002" y="0"/>
                  </a:lnTo>
                  <a:lnTo>
                    <a:pt x="4289002" y="4273406"/>
                  </a:lnTo>
                  <a:lnTo>
                    <a:pt x="0" y="4273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63224"/>
              <a:ext cx="2795887" cy="909934"/>
            </a:xfrm>
            <a:custGeom>
              <a:avLst/>
              <a:gdLst/>
              <a:ahLst/>
              <a:cxnLst/>
              <a:rect r="r" b="b" t="t" l="l"/>
              <a:pathLst>
                <a:path h="909934" w="2795887">
                  <a:moveTo>
                    <a:pt x="0" y="0"/>
                  </a:moveTo>
                  <a:lnTo>
                    <a:pt x="2795887" y="0"/>
                  </a:lnTo>
                  <a:lnTo>
                    <a:pt x="2795887" y="909934"/>
                  </a:lnTo>
                  <a:lnTo>
                    <a:pt x="0" y="9099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55236" y="840192"/>
            <a:ext cx="11689257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549"/>
              </a:lnSpc>
              <a:spcBef>
                <a:spcPct val="0"/>
              </a:spcBef>
            </a:pPr>
            <a:r>
              <a:rPr lang="en-US" b="true" sz="10457" spc="104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OBJECTIVE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49378" y="3111922"/>
            <a:ext cx="15550185" cy="530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3943" indent="-381971" lvl="1">
              <a:lnSpc>
                <a:spcPts val="5307"/>
              </a:lnSpc>
              <a:buFont typeface="Arial"/>
              <a:buChar char="•"/>
            </a:pPr>
            <a:r>
              <a:rPr lang="en-US" sz="3538" spc="106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The g</a:t>
            </a:r>
            <a:r>
              <a:rPr lang="en-US" sz="3538" spc="106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oal of this project, “Internship Recommendation Engine for PM Internship Scheme”, is to develop an intelligent system that automatically predicts the suitability of a candidate for different internships under the scheme. </a:t>
            </a:r>
          </a:p>
          <a:p>
            <a:pPr algn="l" marL="763943" indent="-381971" lvl="1">
              <a:lnSpc>
                <a:spcPts val="5307"/>
              </a:lnSpc>
              <a:buFont typeface="Arial"/>
              <a:buChar char="•"/>
            </a:pPr>
            <a:r>
              <a:rPr lang="en-US" sz="3538" spc="106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By analyzing candidate profiles (skills, educational background, preferred locations, and sectors) and internship requirements, the system will provide personalized, ranked internship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98054" y="751739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8"/>
                </a:lnTo>
                <a:lnTo>
                  <a:pt x="0" y="3596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410733" y="8684473"/>
            <a:ext cx="3705291" cy="3205055"/>
            <a:chOff x="0" y="0"/>
            <a:chExt cx="4940388" cy="42734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51386" y="0"/>
              <a:ext cx="4289002" cy="4273406"/>
            </a:xfrm>
            <a:custGeom>
              <a:avLst/>
              <a:gdLst/>
              <a:ahLst/>
              <a:cxnLst/>
              <a:rect r="r" b="b" t="t" l="l"/>
              <a:pathLst>
                <a:path h="4273406" w="4289002">
                  <a:moveTo>
                    <a:pt x="0" y="0"/>
                  </a:moveTo>
                  <a:lnTo>
                    <a:pt x="4289002" y="0"/>
                  </a:lnTo>
                  <a:lnTo>
                    <a:pt x="4289002" y="4273406"/>
                  </a:lnTo>
                  <a:lnTo>
                    <a:pt x="0" y="4273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63224"/>
              <a:ext cx="2795887" cy="909934"/>
            </a:xfrm>
            <a:custGeom>
              <a:avLst/>
              <a:gdLst/>
              <a:ahLst/>
              <a:cxnLst/>
              <a:rect r="r" b="b" t="t" l="l"/>
              <a:pathLst>
                <a:path h="909934" w="2795887">
                  <a:moveTo>
                    <a:pt x="0" y="0"/>
                  </a:moveTo>
                  <a:lnTo>
                    <a:pt x="2795887" y="0"/>
                  </a:lnTo>
                  <a:lnTo>
                    <a:pt x="2795887" y="909934"/>
                  </a:lnTo>
                  <a:lnTo>
                    <a:pt x="0" y="9099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99372" y="423775"/>
            <a:ext cx="11689257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549"/>
              </a:lnSpc>
              <a:spcBef>
                <a:spcPct val="0"/>
              </a:spcBef>
            </a:pPr>
            <a:r>
              <a:rPr lang="en-US" b="true" sz="10457" spc="104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8503" y="2528493"/>
            <a:ext cx="16359163" cy="6194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8893" indent="-299446" lvl="1">
              <a:lnSpc>
                <a:spcPts val="4160"/>
              </a:lnSpc>
              <a:buFont typeface="Arial"/>
              <a:buChar char="•"/>
            </a:pPr>
            <a:r>
              <a:rPr lang="en-US" b="true" sz="2773" spc="83">
                <a:solidFill>
                  <a:srgbClr val="3F3E3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Data Collection:</a:t>
            </a:r>
            <a:r>
              <a:rPr lang="en-US" sz="2773" spc="83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 Internship-related data such as company name, role, stipend, location, and required skills were gathered and organized into a dataset.</a:t>
            </a:r>
          </a:p>
          <a:p>
            <a:pPr algn="l" marL="598893" indent="-299446" lvl="1">
              <a:lnSpc>
                <a:spcPts val="4160"/>
              </a:lnSpc>
              <a:buFont typeface="Arial"/>
              <a:buChar char="•"/>
            </a:pPr>
            <a:r>
              <a:rPr lang="en-US" b="true" sz="2773" spc="83">
                <a:solidFill>
                  <a:srgbClr val="3F3E3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Data Preprocessing:</a:t>
            </a:r>
            <a:r>
              <a:rPr lang="en-US" sz="2773" spc="83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 Missing values were handled, categorical features were encoded, and numerical features were scaled for uniformity.</a:t>
            </a:r>
          </a:p>
          <a:p>
            <a:pPr algn="l" marL="598893" indent="-299446" lvl="1">
              <a:lnSpc>
                <a:spcPts val="4160"/>
              </a:lnSpc>
              <a:buFont typeface="Arial"/>
              <a:buChar char="•"/>
            </a:pPr>
            <a:r>
              <a:rPr lang="en-US" b="true" sz="2773" spc="83">
                <a:solidFill>
                  <a:srgbClr val="3F3E3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Feature Engineering:</a:t>
            </a:r>
            <a:r>
              <a:rPr lang="en-US" sz="2773" spc="83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 New attributes like skill count, degree eligibility, stipend tier, and company size were created to enhance model accuracy.</a:t>
            </a:r>
          </a:p>
          <a:p>
            <a:pPr algn="l" marL="598893" indent="-299446" lvl="1">
              <a:lnSpc>
                <a:spcPts val="4160"/>
              </a:lnSpc>
              <a:buFont typeface="Arial"/>
              <a:buChar char="•"/>
            </a:pPr>
            <a:r>
              <a:rPr lang="en-US" b="true" sz="2773" spc="83">
                <a:solidFill>
                  <a:srgbClr val="3F3E3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Model Training:</a:t>
            </a:r>
            <a:r>
              <a:rPr lang="en-US" sz="2773" spc="83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 Multiple machine learning models — including Logistic Regression, Decision Tree, Random Forest, XGBoost, and LightGBM — were trained and tested.</a:t>
            </a:r>
          </a:p>
          <a:p>
            <a:pPr algn="l" marL="598893" indent="-299446" lvl="1">
              <a:lnSpc>
                <a:spcPts val="4160"/>
              </a:lnSpc>
              <a:buFont typeface="Arial"/>
              <a:buChar char="•"/>
            </a:pPr>
            <a:r>
              <a:rPr lang="en-US" b="true" sz="2773" spc="83">
                <a:solidFill>
                  <a:srgbClr val="3F3E3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Ensemble Learning:</a:t>
            </a:r>
            <a:r>
              <a:rPr lang="en-US" sz="2773" spc="83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 A Stacking Classifier combining the strengths of different models was used to improve performance and accuracy.</a:t>
            </a:r>
          </a:p>
          <a:p>
            <a:pPr algn="l" marL="598893" indent="-299446" lvl="1">
              <a:lnSpc>
                <a:spcPts val="4160"/>
              </a:lnSpc>
              <a:buFont typeface="Arial"/>
              <a:buChar char="•"/>
            </a:pPr>
            <a:r>
              <a:rPr lang="en-US" b="true" sz="2773" spc="83">
                <a:solidFill>
                  <a:srgbClr val="3F3E3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Recommendation Generation:</a:t>
            </a:r>
            <a:r>
              <a:rPr lang="en-US" sz="2773" spc="83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 Based on user inputs such as skills, degree, location, and stipend preference, the trained model ranks and recommends the most suitable internships.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1714" y="8285665"/>
            <a:ext cx="2096915" cy="682451"/>
          </a:xfrm>
          <a:custGeom>
            <a:avLst/>
            <a:gdLst/>
            <a:ahLst/>
            <a:cxnLst/>
            <a:rect r="r" b="b" t="t" l="l"/>
            <a:pathLst>
              <a:path h="682451" w="2096915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62733" y="2757276"/>
            <a:ext cx="12070701" cy="634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b="true" sz="3354" spc="100">
                <a:solidFill>
                  <a:srgbClr val="3F3E3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Language:</a:t>
            </a: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 Python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b="true" sz="3354" spc="100">
                <a:solidFill>
                  <a:srgbClr val="3F3E3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Frontend:</a:t>
            </a: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 Streamlit (Interactive Web App)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b="true" sz="3354" spc="100">
                <a:solidFill>
                  <a:srgbClr val="3F3E3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Libraries:</a:t>
            </a: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 Pandas, NumPy, Matplotlib, Seaborn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b="true" sz="3354" spc="100">
                <a:solidFill>
                  <a:srgbClr val="3F3E3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Machine Learning:</a:t>
            </a: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 Scikit-learn, XGBoost, LightGBM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b="true" sz="3354" spc="100">
                <a:solidFill>
                  <a:srgbClr val="3F3E3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Model Storage:</a:t>
            </a: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 Pickle (for saving trained models &amp; encoders)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b="true" sz="3354" spc="100">
                <a:solidFill>
                  <a:srgbClr val="3F3E3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Feature Extraction:</a:t>
            </a: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 TF-IDF Vectorizer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b="true" sz="3354" spc="100">
                <a:solidFill>
                  <a:srgbClr val="3F3E3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Tools &amp; Environment:</a:t>
            </a: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 Jupyter Notebook, VS Code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b="true" sz="3354" spc="100">
                <a:solidFill>
                  <a:srgbClr val="3F3E3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Dataset:</a:t>
            </a: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 company.csv (Internship data for training &amp; analysis)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75914" y="1009650"/>
            <a:ext cx="13444339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30"/>
              </a:lnSpc>
              <a:spcBef>
                <a:spcPct val="0"/>
              </a:spcBef>
            </a:pPr>
            <a:r>
              <a:rPr lang="en-US" b="true" sz="7358" spc="73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TECHNOLOGY STACK USED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98054" y="7760290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37341" y="8816952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48802" y="9314370"/>
            <a:ext cx="2096915" cy="682451"/>
          </a:xfrm>
          <a:custGeom>
            <a:avLst/>
            <a:gdLst/>
            <a:ahLst/>
            <a:cxnLst/>
            <a:rect r="r" b="b" t="t" l="l"/>
            <a:pathLst>
              <a:path h="682451" w="2096915">
                <a:moveTo>
                  <a:pt x="0" y="0"/>
                </a:moveTo>
                <a:lnTo>
                  <a:pt x="2096915" y="0"/>
                </a:lnTo>
                <a:lnTo>
                  <a:pt x="2096915" y="682450"/>
                </a:lnTo>
                <a:lnTo>
                  <a:pt x="0" y="6824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50965" y="2738498"/>
            <a:ext cx="14949847" cy="6575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1152" indent="-340576" lvl="1">
              <a:lnSpc>
                <a:spcPts val="4732"/>
              </a:lnSpc>
              <a:buFont typeface="Arial"/>
              <a:buChar char="•"/>
            </a:pPr>
            <a:r>
              <a:rPr lang="en-US" b="true" sz="3154" spc="94">
                <a:solidFill>
                  <a:srgbClr val="3F3E3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Data Loading: </a:t>
            </a:r>
            <a:r>
              <a:rPr lang="en-US" sz="3154" spc="94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Imported internship dataset with company, role, stipend, skills, location, and degrees.</a:t>
            </a:r>
          </a:p>
          <a:p>
            <a:pPr algn="l" marL="681152" indent="-340576" lvl="1">
              <a:lnSpc>
                <a:spcPts val="4732"/>
              </a:lnSpc>
              <a:buFont typeface="Arial"/>
              <a:buChar char="•"/>
            </a:pPr>
            <a:r>
              <a:rPr lang="en-US" b="true" sz="3154" spc="94">
                <a:solidFill>
                  <a:srgbClr val="3F3E3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Preprocessing: </a:t>
            </a:r>
            <a:r>
              <a:rPr lang="en-US" sz="3154" spc="94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Handled missing values, encoded categorical features, normalized numerical data, extracted skills via TF-IDF.</a:t>
            </a:r>
          </a:p>
          <a:p>
            <a:pPr algn="l" marL="681152" indent="-340576" lvl="1">
              <a:lnSpc>
                <a:spcPts val="4732"/>
              </a:lnSpc>
              <a:buFont typeface="Arial"/>
              <a:buChar char="•"/>
            </a:pPr>
            <a:r>
              <a:rPr lang="en-US" b="true" sz="3154" spc="94">
                <a:solidFill>
                  <a:srgbClr val="3F3E3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Feature Engineering:</a:t>
            </a:r>
            <a:r>
              <a:rPr lang="en-US" sz="3154" spc="94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 Added skill/degree count, stipend tier, role popularity, company size, remote &amp; top company flags.</a:t>
            </a:r>
          </a:p>
          <a:p>
            <a:pPr algn="l" marL="681152" indent="-340576" lvl="1">
              <a:lnSpc>
                <a:spcPts val="4732"/>
              </a:lnSpc>
              <a:buFont typeface="Arial"/>
              <a:buChar char="•"/>
            </a:pPr>
            <a:r>
              <a:rPr lang="en-US" b="true" sz="3154" spc="94">
                <a:solidFill>
                  <a:srgbClr val="3F3E3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Model Training:</a:t>
            </a:r>
            <a:r>
              <a:rPr lang="en-US" sz="3154" spc="94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 Trained Logistic Regression, Decision Tree, Random Forest, XGBoost, LightGBM; final model via Stacking Ensemble.</a:t>
            </a:r>
          </a:p>
          <a:p>
            <a:pPr algn="l" marL="681152" indent="-340576" lvl="1">
              <a:lnSpc>
                <a:spcPts val="4732"/>
              </a:lnSpc>
              <a:buFont typeface="Arial"/>
              <a:buChar char="•"/>
            </a:pPr>
            <a:r>
              <a:rPr lang="en-US" b="true" sz="3154" spc="94">
                <a:solidFill>
                  <a:srgbClr val="3F3E3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Evaluation: </a:t>
            </a:r>
            <a:r>
              <a:rPr lang="en-US" sz="3154" spc="94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Accuracy, Confusion Matrix, Classification Report.</a:t>
            </a:r>
          </a:p>
          <a:p>
            <a:pPr algn="l" marL="681152" indent="-340576" lvl="1">
              <a:lnSpc>
                <a:spcPts val="4732"/>
              </a:lnSpc>
              <a:buFont typeface="Arial"/>
              <a:buChar char="•"/>
            </a:pPr>
            <a:r>
              <a:rPr lang="en-US" b="true" sz="3154" spc="94">
                <a:solidFill>
                  <a:srgbClr val="3F3E3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Recommendation: </a:t>
            </a:r>
            <a:r>
              <a:rPr lang="en-US" sz="3154" spc="94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Suggests top internships based on user profile and match score</a:t>
            </a:r>
            <a:r>
              <a:rPr lang="en-US" b="true" sz="3154" spc="94">
                <a:solidFill>
                  <a:srgbClr val="3F3E3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95514" y="890500"/>
            <a:ext cx="12353288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30"/>
              </a:lnSpc>
              <a:spcBef>
                <a:spcPct val="0"/>
              </a:spcBef>
            </a:pPr>
            <a:r>
              <a:rPr lang="en-US" b="true" sz="7358" spc="73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MODEL IMPLEMENTATION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85091" y="7670652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41087" y="8177908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1" y="0"/>
                </a:lnTo>
                <a:lnTo>
                  <a:pt x="3216751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52547" y="8675326"/>
            <a:ext cx="2096915" cy="682451"/>
          </a:xfrm>
          <a:custGeom>
            <a:avLst/>
            <a:gdLst/>
            <a:ahLst/>
            <a:cxnLst/>
            <a:rect r="r" b="b" t="t" l="l"/>
            <a:pathLst>
              <a:path h="682451" w="2096915">
                <a:moveTo>
                  <a:pt x="0" y="0"/>
                </a:moveTo>
                <a:lnTo>
                  <a:pt x="2096916" y="0"/>
                </a:lnTo>
                <a:lnTo>
                  <a:pt x="2096916" y="682450"/>
                </a:lnTo>
                <a:lnTo>
                  <a:pt x="0" y="6824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94773" y="3732821"/>
            <a:ext cx="5951896" cy="4445087"/>
          </a:xfrm>
          <a:custGeom>
            <a:avLst/>
            <a:gdLst/>
            <a:ahLst/>
            <a:cxnLst/>
            <a:rect r="r" b="b" t="t" l="l"/>
            <a:pathLst>
              <a:path h="4445087" w="5951896">
                <a:moveTo>
                  <a:pt x="0" y="0"/>
                </a:moveTo>
                <a:lnTo>
                  <a:pt x="5951896" y="0"/>
                </a:lnTo>
                <a:lnTo>
                  <a:pt x="5951896" y="4445087"/>
                </a:lnTo>
                <a:lnTo>
                  <a:pt x="0" y="444508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flipH="true" flipV="true">
            <a:off x="7756511" y="2985659"/>
            <a:ext cx="0" cy="367667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3299372" y="125620"/>
            <a:ext cx="11903791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49"/>
              </a:lnSpc>
              <a:spcBef>
                <a:spcPct val="0"/>
              </a:spcBef>
            </a:pPr>
            <a:r>
              <a:rPr lang="en-US" b="true" sz="7958" spc="79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RESULT &amp; EVALUATION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9257" y="2985659"/>
            <a:ext cx="7238965" cy="4315681"/>
            <a:chOff x="0" y="0"/>
            <a:chExt cx="9651953" cy="5754241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30478"/>
              <a:ext cx="9651953" cy="4623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27"/>
                </a:lnSpc>
              </a:pPr>
              <a:r>
                <a:rPr lang="en-US" b="true" sz="3085" spc="92">
                  <a:solidFill>
                    <a:srgbClr val="3F3E3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           Model               Accuracy    Rank</a:t>
              </a:r>
            </a:p>
            <a:p>
              <a:pPr algn="ctr">
                <a:lnSpc>
                  <a:spcPts val="4627"/>
                </a:lnSpc>
              </a:pPr>
              <a:r>
                <a:rPr lang="en-US" sz="3085" spc="92">
                  <a:solidFill>
                    <a:srgbClr val="3F3E3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         XGBoost              0.912          1</a:t>
              </a:r>
            </a:p>
            <a:p>
              <a:pPr algn="ctr">
                <a:lnSpc>
                  <a:spcPts val="4627"/>
                </a:lnSpc>
              </a:pPr>
              <a:r>
                <a:rPr lang="en-US" sz="3085" spc="92">
                  <a:solidFill>
                    <a:srgbClr val="3F3E3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        LightGBM             0.896           2</a:t>
              </a:r>
            </a:p>
            <a:p>
              <a:pPr algn="ctr">
                <a:lnSpc>
                  <a:spcPts val="4627"/>
                </a:lnSpc>
              </a:pPr>
              <a:r>
                <a:rPr lang="en-US" sz="3085" spc="92">
                  <a:solidFill>
                    <a:srgbClr val="3F3E3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     Decision Tree          0.856           3</a:t>
              </a:r>
            </a:p>
            <a:p>
              <a:pPr algn="ctr">
                <a:lnSpc>
                  <a:spcPts val="4627"/>
                </a:lnSpc>
              </a:pPr>
              <a:r>
                <a:rPr lang="en-US" sz="3085" spc="92">
                  <a:solidFill>
                    <a:srgbClr val="3F3E3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     Random Forest        0.816           4</a:t>
              </a:r>
            </a:p>
            <a:p>
              <a:pPr algn="ctr" marL="0" indent="0" lvl="0">
                <a:lnSpc>
                  <a:spcPts val="4627"/>
                </a:lnSpc>
                <a:spcBef>
                  <a:spcPct val="0"/>
                </a:spcBef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980578" y="-123825"/>
              <a:ext cx="6587043" cy="10204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700"/>
                </a:lnSpc>
                <a:spcBef>
                  <a:spcPct val="0"/>
                </a:spcBef>
              </a:pPr>
              <a:r>
                <a:rPr lang="en-US" b="true" sz="4467" spc="134">
                  <a:solidFill>
                    <a:srgbClr val="3F3E3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Model evaluation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599254" y="2899934"/>
            <a:ext cx="7238965" cy="555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27"/>
              </a:lnSpc>
              <a:spcBef>
                <a:spcPct val="0"/>
              </a:spcBef>
            </a:pPr>
            <a:r>
              <a:rPr lang="en-US" b="true" sz="3085" spc="92">
                <a:solidFill>
                  <a:srgbClr val="3F3E3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DETAILED EVALUATION: XGBoost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85091" y="7670652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41087" y="8177908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1" y="0"/>
                </a:lnTo>
                <a:lnTo>
                  <a:pt x="3216751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52547" y="8675326"/>
            <a:ext cx="2096915" cy="682451"/>
          </a:xfrm>
          <a:custGeom>
            <a:avLst/>
            <a:gdLst/>
            <a:ahLst/>
            <a:cxnLst/>
            <a:rect r="r" b="b" t="t" l="l"/>
            <a:pathLst>
              <a:path h="682451" w="2096915">
                <a:moveTo>
                  <a:pt x="0" y="0"/>
                </a:moveTo>
                <a:lnTo>
                  <a:pt x="2096916" y="0"/>
                </a:lnTo>
                <a:lnTo>
                  <a:pt x="2096916" y="682450"/>
                </a:lnTo>
                <a:lnTo>
                  <a:pt x="0" y="6824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006126" y="2170023"/>
            <a:ext cx="14046421" cy="6970536"/>
          </a:xfrm>
          <a:custGeom>
            <a:avLst/>
            <a:gdLst/>
            <a:ahLst/>
            <a:cxnLst/>
            <a:rect r="r" b="b" t="t" l="l"/>
            <a:pathLst>
              <a:path h="6970536" w="14046421">
                <a:moveTo>
                  <a:pt x="0" y="0"/>
                </a:moveTo>
                <a:lnTo>
                  <a:pt x="14046421" y="0"/>
                </a:lnTo>
                <a:lnTo>
                  <a:pt x="14046421" y="6970536"/>
                </a:lnTo>
                <a:lnTo>
                  <a:pt x="0" y="697053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99372" y="125620"/>
            <a:ext cx="11903791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49"/>
              </a:lnSpc>
              <a:spcBef>
                <a:spcPct val="0"/>
              </a:spcBef>
            </a:pPr>
            <a:r>
              <a:rPr lang="en-US" b="true" sz="7958" spc="79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RESULT &amp; EVALUATION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98054" y="8285665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1714" y="8285665"/>
            <a:ext cx="2096915" cy="682451"/>
          </a:xfrm>
          <a:custGeom>
            <a:avLst/>
            <a:gdLst/>
            <a:ahLst/>
            <a:cxnLst/>
            <a:rect r="r" b="b" t="t" l="l"/>
            <a:pathLst>
              <a:path h="682451" w="2096915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58098" y="2403422"/>
            <a:ext cx="15504659" cy="698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Successfully developed an internship recommendation system tailored to user skills, degree, location, and preferences.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Feature engineering and text-based skill analysis significantly improved recommendation accuracy.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The stacking ensemble model provided the best performance among all models tested.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Users can get personalized internship suggestions, making the search process faster and more efficient.</a:t>
            </a:r>
          </a:p>
          <a:p>
            <a:pPr algn="l" marL="724331" indent="-362166" lvl="1">
              <a:lnSpc>
                <a:spcPts val="5032"/>
              </a:lnSpc>
              <a:spcBef>
                <a:spcPct val="0"/>
              </a:spcBef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Future improvements could include real-time data updates, company reviews, and advanced skill matching.</a:t>
            </a:r>
          </a:p>
          <a:p>
            <a:pPr algn="l" marL="0" indent="0" lvl="0">
              <a:lnSpc>
                <a:spcPts val="5032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299372" y="-9525"/>
            <a:ext cx="11689257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549"/>
              </a:lnSpc>
              <a:spcBef>
                <a:spcPct val="0"/>
              </a:spcBef>
            </a:pPr>
            <a:r>
              <a:rPr lang="en-US" b="true" sz="10457" spc="104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CONCLUSION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1714" y="8285665"/>
            <a:ext cx="2096915" cy="682451"/>
          </a:xfrm>
          <a:custGeom>
            <a:avLst/>
            <a:gdLst/>
            <a:ahLst/>
            <a:cxnLst/>
            <a:rect r="r" b="b" t="t" l="l"/>
            <a:pathLst>
              <a:path h="682451" w="2096915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299372" y="5221503"/>
            <a:ext cx="11689257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269"/>
              </a:lnSpc>
              <a:spcBef>
                <a:spcPct val="0"/>
              </a:spcBef>
            </a:pPr>
            <a:r>
              <a:rPr lang="en-US" b="true" sz="11057" spc="11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YOU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61662" y="3370047"/>
            <a:ext cx="8964676" cy="203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976"/>
              </a:lnSpc>
              <a:spcBef>
                <a:spcPct val="0"/>
              </a:spcBef>
            </a:pPr>
            <a:r>
              <a:rPr lang="en-US" b="true" sz="13313" spc="399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THANK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DAG1-Eoeeaw</dc:identifier>
  <dcterms:modified xsi:type="dcterms:W3CDTF">2011-08-01T06:04:30Z</dcterms:modified>
  <cp:revision>1</cp:revision>
  <dc:title>Research</dc:title>
</cp:coreProperties>
</file>